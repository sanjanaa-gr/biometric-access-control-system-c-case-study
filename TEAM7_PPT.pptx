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rimo" panose="020B0604020202020204" charset="0"/>
      <p:regular r:id="rId12"/>
    </p:embeddedFont>
    <p:embeddedFont>
      <p:font typeface="Arimo Bold" panose="020B0604020202020204" charset="0"/>
      <p:regular r:id="rId13"/>
    </p:embeddedFont>
    <p:embeddedFont>
      <p:font typeface="Exo 2" panose="020B0604020202020204" charset="0"/>
      <p:regular r:id="rId14"/>
    </p:embeddedFont>
    <p:embeddedFont>
      <p:font typeface="Exo 2 Bold" panose="020B0604020202020204" charset="0"/>
      <p:regular r:id="rId15"/>
    </p:embeddedFont>
    <p:embeddedFont>
      <p:font typeface="Michroma" panose="020B0604020202020204" charset="0"/>
      <p:regular r:id="rId16"/>
    </p:embeddedFont>
    <p:embeddedFont>
      <p:font typeface="Museo Moderno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946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>
                <a:alpha val="51765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52552" y="800100"/>
            <a:ext cx="8305848" cy="1308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54"/>
              </a:lnSpc>
            </a:pPr>
            <a:r>
              <a:rPr lang="en-US" sz="5400" b="1" spc="-360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BIOMETRIC ACCESS CONTROL SYSTEM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52552" y="4265714"/>
            <a:ext cx="2352618" cy="47473"/>
            <a:chOff x="0" y="0"/>
            <a:chExt cx="3136824" cy="632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36773" cy="63246"/>
            </a:xfrm>
            <a:custGeom>
              <a:avLst/>
              <a:gdLst/>
              <a:ahLst/>
              <a:cxnLst/>
              <a:rect l="l" t="t" r="r" b="b"/>
              <a:pathLst>
                <a:path w="3136773" h="63246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3105150" y="0"/>
                  </a:lnTo>
                  <a:cubicBezTo>
                    <a:pt x="3122676" y="0"/>
                    <a:pt x="3136773" y="14224"/>
                    <a:pt x="3136773" y="31623"/>
                  </a:cubicBezTo>
                  <a:cubicBezTo>
                    <a:pt x="3136773" y="49149"/>
                    <a:pt x="3122549" y="63246"/>
                    <a:pt x="3105150" y="63246"/>
                  </a:cubicBezTo>
                  <a:lnTo>
                    <a:pt x="31623" y="63246"/>
                  </a:lnTo>
                  <a:cubicBezTo>
                    <a:pt x="14224" y="63246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9BE1FF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752562" y="4674137"/>
            <a:ext cx="7642165" cy="2388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62"/>
              </a:lnSpc>
            </a:pPr>
            <a:r>
              <a:rPr lang="en-US" sz="2850" dirty="0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Keypad, fingerprint and SD logging door access with a neural-network risk engine, duress PIN and resident alert panel. Arduino MEGA 2560 | </a:t>
            </a:r>
            <a:r>
              <a:rPr lang="en-US" sz="2850" dirty="0" err="1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Wokwi</a:t>
            </a:r>
            <a:r>
              <a:rPr lang="en-US" sz="2850" dirty="0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 simulation. </a:t>
            </a:r>
          </a:p>
          <a:p>
            <a:pPr algn="l">
              <a:lnSpc>
                <a:spcPts val="3762"/>
              </a:lnSpc>
            </a:pPr>
            <a:endParaRPr lang="en-US" sz="2850" dirty="0">
              <a:solidFill>
                <a:srgbClr val="FFFFFF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A3CFA9-462B-9E8E-E351-767D663688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032" y="7369752"/>
            <a:ext cx="4770168" cy="23882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315019" cy="10287000"/>
            <a:chOff x="0" y="0"/>
            <a:chExt cx="9753359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753346" cy="13716000"/>
            </a:xfrm>
            <a:custGeom>
              <a:avLst/>
              <a:gdLst/>
              <a:ahLst/>
              <a:cxnLst/>
              <a:rect l="l" t="t" r="r" b="b"/>
              <a:pathLst>
                <a:path w="9753346" h="13716000">
                  <a:moveTo>
                    <a:pt x="0" y="0"/>
                  </a:moveTo>
                  <a:lnTo>
                    <a:pt x="9753346" y="0"/>
                  </a:lnTo>
                  <a:lnTo>
                    <a:pt x="975334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E1F4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76281" y="937832"/>
            <a:ext cx="5791057" cy="1717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48"/>
              </a:lnSpc>
            </a:pPr>
            <a:r>
              <a:rPr lang="en-US" sz="6600" spc="-79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Problem and scope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76281" y="2958113"/>
            <a:ext cx="1447619" cy="47473"/>
            <a:chOff x="0" y="0"/>
            <a:chExt cx="1930159" cy="632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30146" cy="63246"/>
            </a:xfrm>
            <a:custGeom>
              <a:avLst/>
              <a:gdLst/>
              <a:ahLst/>
              <a:cxnLst/>
              <a:rect l="l" t="t" r="r" b="b"/>
              <a:pathLst>
                <a:path w="1930146" h="63246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1898523" y="0"/>
                  </a:lnTo>
                  <a:cubicBezTo>
                    <a:pt x="1916049" y="0"/>
                    <a:pt x="1930146" y="14224"/>
                    <a:pt x="1930146" y="31623"/>
                  </a:cubicBezTo>
                  <a:cubicBezTo>
                    <a:pt x="1930146" y="49149"/>
                    <a:pt x="1915922" y="63246"/>
                    <a:pt x="1898523" y="63246"/>
                  </a:cubicBezTo>
                  <a:lnTo>
                    <a:pt x="31623" y="63246"/>
                  </a:lnTo>
                  <a:cubicBezTo>
                    <a:pt x="14224" y="63246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9BE1FF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876281" y="3687013"/>
            <a:ext cx="5791057" cy="656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7"/>
              </a:lnSpc>
            </a:pPr>
            <a:r>
              <a:rPr lang="en-US" sz="5250" spc="-63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Problem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6281" y="4540596"/>
            <a:ext cx="5791057" cy="1899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7194" lvl="1" indent="-203597" algn="l">
              <a:lnSpc>
                <a:spcPts val="3186"/>
              </a:lnSpc>
              <a:buFont typeface="Arial"/>
              <a:buChar char="•"/>
            </a:pP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PINs kept in plain text</a:t>
            </a:r>
          </a:p>
          <a:p>
            <a:pPr marL="407194" lvl="1" indent="-203597" algn="l">
              <a:lnSpc>
                <a:spcPts val="3186"/>
              </a:lnSpc>
              <a:buFont typeface="Arial"/>
              <a:buChar char="•"/>
            </a:pP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A stolen PIN always works</a:t>
            </a:r>
          </a:p>
          <a:p>
            <a:pPr marL="407194" lvl="1" indent="-203597" algn="l">
              <a:lnSpc>
                <a:spcPts val="3186"/>
              </a:lnSpc>
              <a:buFont typeface="Arial"/>
              <a:buChar char="•"/>
            </a:pP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No safe way to call for help under force</a:t>
            </a:r>
          </a:p>
          <a:p>
            <a:pPr marL="407194" lvl="1" indent="-203597" algn="l">
              <a:lnSpc>
                <a:spcPts val="3186"/>
              </a:lnSpc>
              <a:buFont typeface="Arial"/>
              <a:buChar char="•"/>
            </a:pP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Neighbours unaware of break-ins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38900" y="907494"/>
            <a:ext cx="9334262" cy="656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7"/>
              </a:lnSpc>
            </a:pPr>
            <a:r>
              <a:rPr lang="en-US" sz="5250" spc="-63">
                <a:solidFill>
                  <a:srgbClr val="ECECEC"/>
                </a:solidFill>
                <a:latin typeface="Exo 2"/>
                <a:ea typeface="Exo 2"/>
                <a:cs typeface="Exo 2"/>
                <a:sym typeface="Exo 2"/>
              </a:rPr>
              <a:t>Scope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038900" y="4474521"/>
            <a:ext cx="2333415" cy="47473"/>
            <a:chOff x="0" y="0"/>
            <a:chExt cx="3111221" cy="6329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11246" cy="63246"/>
            </a:xfrm>
            <a:custGeom>
              <a:avLst/>
              <a:gdLst/>
              <a:ahLst/>
              <a:cxnLst/>
              <a:rect l="l" t="t" r="r" b="b"/>
              <a:pathLst>
                <a:path w="3111246" h="63246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3079623" y="0"/>
                  </a:lnTo>
                  <a:cubicBezTo>
                    <a:pt x="3097149" y="0"/>
                    <a:pt x="3111246" y="14224"/>
                    <a:pt x="3111246" y="31623"/>
                  </a:cubicBezTo>
                  <a:cubicBezTo>
                    <a:pt x="3111246" y="49149"/>
                    <a:pt x="3097022" y="63246"/>
                    <a:pt x="3079623" y="63246"/>
                  </a:cubicBezTo>
                  <a:lnTo>
                    <a:pt x="31623" y="63246"/>
                  </a:lnTo>
                  <a:cubicBezTo>
                    <a:pt x="14224" y="63246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9BE1FF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8038900" y="4810277"/>
            <a:ext cx="9334262" cy="1899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7194" lvl="1" indent="-203597" algn="l">
              <a:lnSpc>
                <a:spcPts val="3186"/>
              </a:lnSpc>
              <a:buFont typeface="Arial"/>
              <a:buChar char="•"/>
            </a:pP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PIN, fingerprint and guest PIN entry</a:t>
            </a:r>
          </a:p>
          <a:p>
            <a:pPr marL="407194" lvl="1" indent="-203597" algn="l">
              <a:lnSpc>
                <a:spcPts val="3186"/>
              </a:lnSpc>
              <a:buFont typeface="Arial"/>
              <a:buChar char="•"/>
            </a:pP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Admin menu for residents</a:t>
            </a:r>
          </a:p>
          <a:p>
            <a:pPr marL="407194" lvl="1" indent="-203597" algn="l">
              <a:lnSpc>
                <a:spcPts val="3186"/>
              </a:lnSpc>
              <a:buFont typeface="Arial"/>
              <a:buChar char="•"/>
            </a:pP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SD card logs and typing profiles</a:t>
            </a:r>
          </a:p>
          <a:p>
            <a:pPr marL="407194" lvl="1" indent="-203597" algn="l">
              <a:lnSpc>
                <a:spcPts val="3186"/>
              </a:lnSpc>
              <a:buFont typeface="Arial"/>
              <a:buChar char="•"/>
            </a:pP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Alert to all flats; one entrance door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7729454" y="9687820"/>
            <a:ext cx="558089" cy="283959"/>
            <a:chOff x="0" y="0"/>
            <a:chExt cx="744118" cy="37861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44122" cy="378618"/>
            </a:xfrm>
            <a:custGeom>
              <a:avLst/>
              <a:gdLst/>
              <a:ahLst/>
              <a:cxnLst/>
              <a:rect l="l" t="t" r="r" b="b"/>
              <a:pathLst>
                <a:path w="744122" h="378618">
                  <a:moveTo>
                    <a:pt x="0" y="0"/>
                  </a:moveTo>
                  <a:lnTo>
                    <a:pt x="744122" y="0"/>
                  </a:lnTo>
                  <a:lnTo>
                    <a:pt x="744122" y="378618"/>
                  </a:lnTo>
                  <a:lnTo>
                    <a:pt x="0" y="3786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281" r="-15281" b="1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744118" cy="4262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30"/>
                </a:lnSpc>
              </a:pPr>
              <a:r>
                <a:rPr lang="en-US" sz="1575" spc="126">
                  <a:solidFill>
                    <a:srgbClr val="9D9D9D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486267" cy="10287000"/>
            <a:chOff x="0" y="0"/>
            <a:chExt cx="7315022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073" cy="13716000"/>
            </a:xfrm>
            <a:custGeom>
              <a:avLst/>
              <a:gdLst/>
              <a:ahLst/>
              <a:cxnLst/>
              <a:rect l="l" t="t" r="r" b="b"/>
              <a:pathLst>
                <a:path w="7315073" h="13716000">
                  <a:moveTo>
                    <a:pt x="0" y="0"/>
                  </a:moveTo>
                  <a:lnTo>
                    <a:pt x="7315073" y="0"/>
                  </a:lnTo>
                  <a:lnTo>
                    <a:pt x="731507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E1F4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61981" y="785432"/>
            <a:ext cx="4190895" cy="2614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48"/>
              </a:lnSpc>
            </a:pPr>
            <a:r>
              <a:rPr lang="en-US" sz="6600" spc="-79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Existing vs proposed solution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61981" y="3702548"/>
            <a:ext cx="1047579" cy="47473"/>
            <a:chOff x="0" y="0"/>
            <a:chExt cx="1396771" cy="632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96746" cy="63246"/>
            </a:xfrm>
            <a:custGeom>
              <a:avLst/>
              <a:gdLst/>
              <a:ahLst/>
              <a:cxnLst/>
              <a:rect l="l" t="t" r="r" b="b"/>
              <a:pathLst>
                <a:path w="1396746" h="63246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1365123" y="0"/>
                  </a:lnTo>
                  <a:cubicBezTo>
                    <a:pt x="1382649" y="0"/>
                    <a:pt x="1396746" y="14224"/>
                    <a:pt x="1396746" y="31623"/>
                  </a:cubicBezTo>
                  <a:cubicBezTo>
                    <a:pt x="1396746" y="49149"/>
                    <a:pt x="1382522" y="63246"/>
                    <a:pt x="1365123" y="63246"/>
                  </a:cubicBezTo>
                  <a:lnTo>
                    <a:pt x="31623" y="63246"/>
                  </a:lnTo>
                  <a:cubicBezTo>
                    <a:pt x="14224" y="63246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9BE1FF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761981" y="4085930"/>
            <a:ext cx="4190895" cy="2081813"/>
            <a:chOff x="0" y="0"/>
            <a:chExt cx="5587860" cy="2775750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5587873" cy="2775712"/>
            </a:xfrm>
            <a:custGeom>
              <a:avLst/>
              <a:gdLst/>
              <a:ahLst/>
              <a:cxnLst/>
              <a:rect l="l" t="t" r="r" b="b"/>
              <a:pathLst>
                <a:path w="5587873" h="2775712">
                  <a:moveTo>
                    <a:pt x="0" y="0"/>
                  </a:moveTo>
                  <a:lnTo>
                    <a:pt x="5587873" y="0"/>
                  </a:lnTo>
                  <a:lnTo>
                    <a:pt x="5587873" y="2775712"/>
                  </a:lnTo>
                  <a:lnTo>
                    <a:pt x="0" y="2775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" r="-14" b="-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864803" y="4649638"/>
            <a:ext cx="993038" cy="149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9"/>
              </a:lnSpc>
            </a:pPr>
            <a:r>
              <a:rPr lang="en-US" sz="825" spc="-1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Existing: Storage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207857" y="4622359"/>
            <a:ext cx="360407" cy="310124"/>
            <a:chOff x="0" y="0"/>
            <a:chExt cx="480543" cy="413499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480568" cy="413512"/>
            </a:xfrm>
            <a:custGeom>
              <a:avLst/>
              <a:gdLst/>
              <a:ahLst/>
              <a:cxnLst/>
              <a:rect l="l" t="t" r="r" b="b"/>
              <a:pathLst>
                <a:path w="480568" h="413512">
                  <a:moveTo>
                    <a:pt x="0" y="0"/>
                  </a:moveTo>
                  <a:lnTo>
                    <a:pt x="480568" y="0"/>
                  </a:lnTo>
                  <a:lnTo>
                    <a:pt x="480568" y="413512"/>
                  </a:lnTo>
                  <a:lnTo>
                    <a:pt x="0" y="413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60" r="5" b="-457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860612" y="5365356"/>
            <a:ext cx="997229" cy="289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9"/>
              </a:lnSpc>
            </a:pPr>
            <a:r>
              <a:rPr lang="en-US" sz="825" spc="-1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Existing: Authentication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2207857" y="5406057"/>
            <a:ext cx="360407" cy="310124"/>
            <a:chOff x="0" y="0"/>
            <a:chExt cx="480543" cy="413499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480568" cy="413512"/>
            </a:xfrm>
            <a:custGeom>
              <a:avLst/>
              <a:gdLst/>
              <a:ahLst/>
              <a:cxnLst/>
              <a:rect l="l" t="t" r="r" b="b"/>
              <a:pathLst>
                <a:path w="480568" h="413512">
                  <a:moveTo>
                    <a:pt x="0" y="0"/>
                  </a:moveTo>
                  <a:lnTo>
                    <a:pt x="480568" y="0"/>
                  </a:lnTo>
                  <a:lnTo>
                    <a:pt x="480568" y="413512"/>
                  </a:lnTo>
                  <a:lnTo>
                    <a:pt x="0" y="413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60" r="5" b="-45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3852824" y="5435422"/>
            <a:ext cx="997229" cy="149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9"/>
              </a:lnSpc>
            </a:pPr>
            <a:r>
              <a:rPr lang="en-US" sz="825" spc="-1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Proposed: Security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2999918" y="5355765"/>
            <a:ext cx="360407" cy="310124"/>
            <a:chOff x="0" y="0"/>
            <a:chExt cx="480543" cy="413499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480568" cy="413512"/>
            </a:xfrm>
            <a:custGeom>
              <a:avLst/>
              <a:gdLst/>
              <a:ahLst/>
              <a:cxnLst/>
              <a:rect l="l" t="t" r="r" b="b"/>
              <a:pathLst>
                <a:path w="480568" h="413512">
                  <a:moveTo>
                    <a:pt x="0" y="0"/>
                  </a:moveTo>
                  <a:lnTo>
                    <a:pt x="480568" y="0"/>
                  </a:lnTo>
                  <a:lnTo>
                    <a:pt x="480568" y="413512"/>
                  </a:lnTo>
                  <a:lnTo>
                    <a:pt x="0" y="413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60" r="5" b="-457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3852824" y="4651734"/>
            <a:ext cx="997229" cy="149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9"/>
              </a:lnSpc>
            </a:pPr>
            <a:r>
              <a:rPr lang="en-US" sz="825" spc="-1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Proposed: Response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2999918" y="4567876"/>
            <a:ext cx="360407" cy="310124"/>
            <a:chOff x="0" y="0"/>
            <a:chExt cx="480543" cy="413499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480568" cy="413512"/>
            </a:xfrm>
            <a:custGeom>
              <a:avLst/>
              <a:gdLst/>
              <a:ahLst/>
              <a:cxnLst/>
              <a:rect l="l" t="t" r="r" b="b"/>
              <a:pathLst>
                <a:path w="480568" h="413512">
                  <a:moveTo>
                    <a:pt x="0" y="0"/>
                  </a:moveTo>
                  <a:lnTo>
                    <a:pt x="480568" y="0"/>
                  </a:lnTo>
                  <a:lnTo>
                    <a:pt x="480568" y="413512"/>
                  </a:lnTo>
                  <a:lnTo>
                    <a:pt x="0" y="413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460" r="5" b="-457"/>
              </a:stretch>
            </a:blipFill>
          </p:spPr>
        </p:sp>
      </p:grpSp>
      <p:graphicFrame>
        <p:nvGraphicFramePr>
          <p:cNvPr id="21" name="Table 21"/>
          <p:cNvGraphicFramePr>
            <a:graphicFrameLocks noGrp="1"/>
          </p:cNvGraphicFramePr>
          <p:nvPr/>
        </p:nvGraphicFramePr>
        <p:xfrm>
          <a:off x="6019650" y="647700"/>
          <a:ext cx="11430000" cy="6076950"/>
        </p:xfrm>
        <a:graphic>
          <a:graphicData uri="http://schemas.openxmlformats.org/drawingml/2006/table">
            <a:tbl>
              <a:tblPr/>
              <a:tblGrid>
                <a:gridCol w="2640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4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4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4950">
                <a:tc>
                  <a:txBody>
                    <a:bodyPr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spc="189">
                          <a:solidFill>
                            <a:srgbClr val="DADADA"/>
                          </a:solidFill>
                          <a:latin typeface="Michroma"/>
                          <a:ea typeface="Michroma"/>
                          <a:cs typeface="Michroma"/>
                          <a:sym typeface="Michroma"/>
                        </a:rPr>
                        <a:t>FEATURE</a:t>
                      </a:r>
                      <a:endParaRPr lang="en-US" sz="1100"/>
                    </a:p>
                  </a:txBody>
                  <a:tcPr marL="177796" marR="177796" marT="177796" marB="177796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spc="189">
                          <a:solidFill>
                            <a:srgbClr val="DADADA"/>
                          </a:solidFill>
                          <a:latin typeface="Michroma"/>
                          <a:ea typeface="Michroma"/>
                          <a:cs typeface="Michroma"/>
                          <a:sym typeface="Michroma"/>
                        </a:rPr>
                        <a:t>EXISTING</a:t>
                      </a:r>
                      <a:endParaRPr lang="en-US" sz="1100"/>
                    </a:p>
                  </a:txBody>
                  <a:tcPr marL="177796" marR="177796" marT="177796" marB="177796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spc="189">
                          <a:solidFill>
                            <a:srgbClr val="DADADA"/>
                          </a:solidFill>
                          <a:latin typeface="Michroma"/>
                          <a:ea typeface="Michroma"/>
                          <a:cs typeface="Michroma"/>
                          <a:sym typeface="Michroma"/>
                        </a:rPr>
                        <a:t>PROPOSED</a:t>
                      </a:r>
                      <a:endParaRPr lang="en-US" sz="1100"/>
                    </a:p>
                  </a:txBody>
                  <a:tcPr marL="177796" marR="177796" marT="177796" marB="177796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677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D5D5D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PIN storage</a:t>
                      </a:r>
                      <a:endParaRPr lang="en-US" sz="1100"/>
                    </a:p>
                  </a:txBody>
                  <a:tcPr marL="177796" marR="177796" marT="177796" marB="177796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D5D5D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Plain text or fixed code</a:t>
                      </a:r>
                      <a:endParaRPr lang="en-US" sz="1100"/>
                    </a:p>
                  </a:txBody>
                  <a:tcPr marL="177796" marR="177796" marT="177796" marB="177796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D5D5D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Salted hash on SD card</a:t>
                      </a:r>
                      <a:endParaRPr lang="en-US" sz="1100"/>
                    </a:p>
                  </a:txBody>
                  <a:tcPr marL="177796" marR="177796" marT="177796" marB="177796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6341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D5D5D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Authentication</a:t>
                      </a:r>
                      <a:endParaRPr lang="en-US" sz="1100"/>
                    </a:p>
                  </a:txBody>
                  <a:tcPr marL="177796" marR="177796" marT="177796" marB="177796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D5D5D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PIN only, always trusted</a:t>
                      </a:r>
                      <a:endParaRPr lang="en-US" sz="1100"/>
                    </a:p>
                  </a:txBody>
                  <a:tcPr marL="177796" marR="177796" marT="177796" marB="177796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D5D5D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PIN, fingerprint, guest PIN + AI risk check</a:t>
                      </a:r>
                      <a:endParaRPr lang="en-US" sz="1100"/>
                    </a:p>
                  </a:txBody>
                  <a:tcPr marL="177796" marR="177796" marT="177796" marB="177796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6341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D5D5D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Under force</a:t>
                      </a:r>
                      <a:endParaRPr lang="en-US" sz="1100"/>
                    </a:p>
                  </a:txBody>
                  <a:tcPr marL="177796" marR="177796" marT="177796" marB="177796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D5D5D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No option</a:t>
                      </a:r>
                      <a:endParaRPr lang="en-US" sz="1100"/>
                    </a:p>
                  </a:txBody>
                  <a:tcPr marL="177796" marR="177796" marT="177796" marB="177796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D5D5D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Duress PIN, silent alarm to all flats</a:t>
                      </a:r>
                      <a:endParaRPr lang="en-US" sz="1100"/>
                    </a:p>
                  </a:txBody>
                  <a:tcPr marL="177796" marR="177796" marT="177796" marB="177796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677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D5D5D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Brute force</a:t>
                      </a:r>
                      <a:endParaRPr lang="en-US" sz="1100"/>
                    </a:p>
                  </a:txBody>
                  <a:tcPr marL="177796" marR="177796" marT="177796" marB="177796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D5D5D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Fixed or no lockout</a:t>
                      </a:r>
                      <a:endParaRPr lang="en-US" sz="1100"/>
                    </a:p>
                  </a:txBody>
                  <a:tcPr marL="177796" marR="177796" marT="177796" marB="177796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D5D5D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Lockout 30 to 240 s</a:t>
                      </a:r>
                      <a:endParaRPr lang="en-US" sz="1100"/>
                    </a:p>
                  </a:txBody>
                  <a:tcPr marL="177796" marR="177796" marT="177796" marB="177796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06341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D5D5D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Break-in warning</a:t>
                      </a:r>
                      <a:endParaRPr lang="en-US" sz="1100"/>
                    </a:p>
                  </a:txBody>
                  <a:tcPr marL="177796" marR="177796" marT="177796" marB="177796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D5D5D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Local buzzer</a:t>
                      </a:r>
                      <a:endParaRPr lang="en-US" sz="1100"/>
                    </a:p>
                  </a:txBody>
                  <a:tcPr marL="177796" marR="177796" marT="177796" marB="177796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D5D5D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Siren, SMS to every flat, notice board</a:t>
                      </a:r>
                      <a:endParaRPr lang="en-US" sz="1100"/>
                    </a:p>
                  </a:txBody>
                  <a:tcPr marL="177796" marR="177796" marT="177796" marB="177796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1623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D5D5D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Visitors</a:t>
                      </a:r>
                      <a:endParaRPr lang="en-US" sz="1100"/>
                    </a:p>
                  </a:txBody>
                  <a:tcPr marL="177796" marR="177796" marT="177796" marB="177796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D5D5D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Share resident PIN</a:t>
                      </a:r>
                      <a:endParaRPr lang="en-US" sz="1100"/>
                    </a:p>
                  </a:txBody>
                  <a:tcPr marL="177796" marR="177796" marT="177796" marB="177796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D5D5D5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One-time PIN, 5 minutes</a:t>
                      </a:r>
                      <a:endParaRPr lang="en-US" sz="1100"/>
                    </a:p>
                  </a:txBody>
                  <a:tcPr marL="177796" marR="177796" marT="177796" marB="177796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2" name="Group 22"/>
          <p:cNvGrpSpPr/>
          <p:nvPr/>
        </p:nvGrpSpPr>
        <p:grpSpPr>
          <a:xfrm>
            <a:off x="17729454" y="9687820"/>
            <a:ext cx="558089" cy="283959"/>
            <a:chOff x="0" y="0"/>
            <a:chExt cx="744118" cy="37861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44122" cy="378618"/>
            </a:xfrm>
            <a:custGeom>
              <a:avLst/>
              <a:gdLst/>
              <a:ahLst/>
              <a:cxnLst/>
              <a:rect l="l" t="t" r="r" b="b"/>
              <a:pathLst>
                <a:path w="744122" h="378618">
                  <a:moveTo>
                    <a:pt x="0" y="0"/>
                  </a:moveTo>
                  <a:lnTo>
                    <a:pt x="744122" y="0"/>
                  </a:lnTo>
                  <a:lnTo>
                    <a:pt x="744122" y="378618"/>
                  </a:lnTo>
                  <a:lnTo>
                    <a:pt x="0" y="3786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5281" r="-15281" b="1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744118" cy="4262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30"/>
                </a:lnSpc>
              </a:pPr>
              <a:r>
                <a:rPr lang="en-US" sz="1575" spc="126">
                  <a:solidFill>
                    <a:srgbClr val="9D9D9D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705429" cy="10287000"/>
            <a:chOff x="0" y="0"/>
            <a:chExt cx="894057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940546" cy="13716000"/>
            </a:xfrm>
            <a:custGeom>
              <a:avLst/>
              <a:gdLst/>
              <a:ahLst/>
              <a:cxnLst/>
              <a:rect l="l" t="t" r="r" b="b"/>
              <a:pathLst>
                <a:path w="8940546" h="13716000">
                  <a:moveTo>
                    <a:pt x="0" y="0"/>
                  </a:moveTo>
                  <a:lnTo>
                    <a:pt x="8940546" y="0"/>
                  </a:lnTo>
                  <a:lnTo>
                    <a:pt x="894054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E1F4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76281" y="937832"/>
            <a:ext cx="5181467" cy="1717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48"/>
              </a:lnSpc>
            </a:pPr>
            <a:r>
              <a:rPr lang="en-US" sz="6600" spc="-79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Proposed modules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76281" y="2958113"/>
            <a:ext cx="1295371" cy="47473"/>
            <a:chOff x="0" y="0"/>
            <a:chExt cx="1727162" cy="632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27200" cy="63246"/>
            </a:xfrm>
            <a:custGeom>
              <a:avLst/>
              <a:gdLst/>
              <a:ahLst/>
              <a:cxnLst/>
              <a:rect l="l" t="t" r="r" b="b"/>
              <a:pathLst>
                <a:path w="1727200" h="63246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1695450" y="0"/>
                  </a:lnTo>
                  <a:cubicBezTo>
                    <a:pt x="1712976" y="0"/>
                    <a:pt x="1727200" y="14224"/>
                    <a:pt x="1727200" y="31623"/>
                  </a:cubicBezTo>
                  <a:cubicBezTo>
                    <a:pt x="1727200" y="49149"/>
                    <a:pt x="1712976" y="63246"/>
                    <a:pt x="1695577" y="63246"/>
                  </a:cubicBezTo>
                  <a:lnTo>
                    <a:pt x="31623" y="63246"/>
                  </a:lnTo>
                  <a:cubicBezTo>
                    <a:pt x="14224" y="63246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9BE1FF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876281" y="3293859"/>
            <a:ext cx="5181467" cy="5297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7194" lvl="1" indent="-203597" algn="l">
              <a:lnSpc>
                <a:spcPts val="3186"/>
              </a:lnSpc>
              <a:buAutoNum type="arabicPeriod"/>
            </a:pPr>
            <a:r>
              <a:rPr lang="en-US" sz="2250" b="1">
                <a:solidFill>
                  <a:srgbClr val="D5D5D5"/>
                </a:solidFill>
                <a:latin typeface="Exo 2 Bold"/>
                <a:ea typeface="Exo 2 Bold"/>
                <a:cs typeface="Exo 2 Bold"/>
                <a:sym typeface="Exo 2 Bold"/>
              </a:rPr>
              <a:t>Authentication:</a:t>
            </a: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 keypad PIN, fingerprint, guest PIN</a:t>
            </a:r>
          </a:p>
          <a:p>
            <a:pPr marL="407194" lvl="1" indent="-203597" algn="l">
              <a:lnSpc>
                <a:spcPts val="3186"/>
              </a:lnSpc>
              <a:buAutoNum type="arabicPeriod"/>
            </a:pPr>
            <a:r>
              <a:rPr lang="en-US" sz="2250" b="1">
                <a:solidFill>
                  <a:srgbClr val="D5D5D5"/>
                </a:solidFill>
                <a:latin typeface="Exo 2 Bold"/>
                <a:ea typeface="Exo 2 Bold"/>
                <a:cs typeface="Exo 2 Bold"/>
                <a:sym typeface="Exo 2 Bold"/>
              </a:rPr>
              <a:t>AI risk engine:</a:t>
            </a: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 typing profile + neural network</a:t>
            </a:r>
          </a:p>
          <a:p>
            <a:pPr marL="407194" lvl="1" indent="-203597" algn="l">
              <a:lnSpc>
                <a:spcPts val="3186"/>
              </a:lnSpc>
              <a:buAutoNum type="arabicPeriod"/>
            </a:pPr>
            <a:r>
              <a:rPr lang="en-US" sz="2250" b="1">
                <a:solidFill>
                  <a:srgbClr val="D5D5D5"/>
                </a:solidFill>
                <a:latin typeface="Exo 2 Bold"/>
                <a:ea typeface="Exo 2 Bold"/>
                <a:cs typeface="Exo 2 Bold"/>
                <a:sym typeface="Exo 2 Bold"/>
              </a:rPr>
              <a:t>Alert and duress:</a:t>
            </a: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 siren, SMS, silent alarm</a:t>
            </a:r>
          </a:p>
          <a:p>
            <a:pPr marL="407194" lvl="1" indent="-203597" algn="l">
              <a:lnSpc>
                <a:spcPts val="3186"/>
              </a:lnSpc>
              <a:buAutoNum type="arabicPeriod"/>
            </a:pPr>
            <a:r>
              <a:rPr lang="en-US" sz="2250" b="1">
                <a:solidFill>
                  <a:srgbClr val="D5D5D5"/>
                </a:solidFill>
                <a:latin typeface="Exo 2 Bold"/>
                <a:ea typeface="Exo 2 Bold"/>
                <a:cs typeface="Exo 2 Bold"/>
                <a:sym typeface="Exo 2 Bold"/>
              </a:rPr>
              <a:t>Lockout and tamper:</a:t>
            </a: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 escalating lock, fail secure</a:t>
            </a:r>
          </a:p>
          <a:p>
            <a:pPr marL="407194" lvl="1" indent="-203597" algn="l">
              <a:lnSpc>
                <a:spcPts val="3186"/>
              </a:lnSpc>
              <a:buAutoNum type="arabicPeriod"/>
            </a:pPr>
            <a:r>
              <a:rPr lang="en-US" sz="2250" b="1">
                <a:solidFill>
                  <a:srgbClr val="D5D5D5"/>
                </a:solidFill>
                <a:latin typeface="Exo 2 Bold"/>
                <a:ea typeface="Exo 2 Bold"/>
                <a:cs typeface="Exo 2 Bold"/>
                <a:sym typeface="Exo 2 Bold"/>
              </a:rPr>
              <a:t>Admin:</a:t>
            </a: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 add, change, delete, guest PIN</a:t>
            </a:r>
          </a:p>
          <a:p>
            <a:pPr marL="407194" lvl="1" indent="-203597" algn="l">
              <a:lnSpc>
                <a:spcPts val="3186"/>
              </a:lnSpc>
              <a:buAutoNum type="arabicPeriod"/>
            </a:pPr>
            <a:r>
              <a:rPr lang="en-US" sz="2250" b="1">
                <a:solidFill>
                  <a:srgbClr val="D5D5D5"/>
                </a:solidFill>
                <a:latin typeface="Exo 2 Bold"/>
                <a:ea typeface="Exo 2 Bold"/>
                <a:cs typeface="Exo 2 Bold"/>
                <a:sym typeface="Exo 2 Bold"/>
              </a:rPr>
              <a:t>Storage and display:</a:t>
            </a: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 SD logs, LCD, notice board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238819" y="609600"/>
            <a:ext cx="10248643" cy="5720210"/>
            <a:chOff x="0" y="0"/>
            <a:chExt cx="13664857" cy="7626947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3664819" cy="7626985"/>
            </a:xfrm>
            <a:custGeom>
              <a:avLst/>
              <a:gdLst/>
              <a:ahLst/>
              <a:cxnLst/>
              <a:rect l="l" t="t" r="r" b="b"/>
              <a:pathLst>
                <a:path w="13664819" h="7626985">
                  <a:moveTo>
                    <a:pt x="0" y="0"/>
                  </a:moveTo>
                  <a:lnTo>
                    <a:pt x="13664819" y="0"/>
                  </a:lnTo>
                  <a:lnTo>
                    <a:pt x="13664819" y="7626985"/>
                  </a:lnTo>
                  <a:lnTo>
                    <a:pt x="0" y="76269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1" b="-3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7729454" y="9687820"/>
            <a:ext cx="558089" cy="283959"/>
            <a:chOff x="0" y="0"/>
            <a:chExt cx="744118" cy="37861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44122" cy="378618"/>
            </a:xfrm>
            <a:custGeom>
              <a:avLst/>
              <a:gdLst/>
              <a:ahLst/>
              <a:cxnLst/>
              <a:rect l="l" t="t" r="r" b="b"/>
              <a:pathLst>
                <a:path w="744122" h="378618">
                  <a:moveTo>
                    <a:pt x="0" y="0"/>
                  </a:moveTo>
                  <a:lnTo>
                    <a:pt x="744122" y="0"/>
                  </a:lnTo>
                  <a:lnTo>
                    <a:pt x="744122" y="378618"/>
                  </a:lnTo>
                  <a:lnTo>
                    <a:pt x="0" y="37861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281" r="-15281" b="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744118" cy="4262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30"/>
                </a:lnSpc>
              </a:pPr>
              <a:r>
                <a:rPr lang="en-US" sz="1575" spc="126">
                  <a:solidFill>
                    <a:srgbClr val="9D9D9D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615315" y="9838487"/>
            <a:ext cx="1607763" cy="384048"/>
            <a:chOff x="0" y="0"/>
            <a:chExt cx="2143684" cy="512064"/>
          </a:xfrm>
        </p:grpSpPr>
        <p:sp>
          <p:nvSpPr>
            <p:cNvPr id="3" name="Freeform 3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143633" cy="512064"/>
            </a:xfrm>
            <a:custGeom>
              <a:avLst/>
              <a:gdLst/>
              <a:ahLst/>
              <a:cxnLst/>
              <a:rect l="l" t="t" r="r" b="b"/>
              <a:pathLst>
                <a:path w="2143633" h="512064">
                  <a:moveTo>
                    <a:pt x="0" y="0"/>
                  </a:moveTo>
                  <a:lnTo>
                    <a:pt x="2143633" y="0"/>
                  </a:lnTo>
                  <a:lnTo>
                    <a:pt x="2143633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876281" y="823532"/>
            <a:ext cx="10058152" cy="1717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48"/>
              </a:lnSpc>
            </a:pPr>
            <a:r>
              <a:rPr lang="en-US" sz="6600" spc="-79">
                <a:solidFill>
                  <a:srgbClr val="ECECEC"/>
                </a:solidFill>
                <a:latin typeface="Exo 2"/>
                <a:ea typeface="Exo 2"/>
                <a:cs typeface="Exo 2"/>
                <a:sym typeface="Exo 2"/>
              </a:rPr>
              <a:t>Simulation circuit (Wokwi)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76281" y="2843813"/>
            <a:ext cx="2514533" cy="47473"/>
            <a:chOff x="0" y="0"/>
            <a:chExt cx="3352711" cy="632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352673" cy="63246"/>
            </a:xfrm>
            <a:custGeom>
              <a:avLst/>
              <a:gdLst/>
              <a:ahLst/>
              <a:cxnLst/>
              <a:rect l="l" t="t" r="r" b="b"/>
              <a:pathLst>
                <a:path w="3352673" h="63246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3321050" y="0"/>
                  </a:lnTo>
                  <a:cubicBezTo>
                    <a:pt x="3338576" y="0"/>
                    <a:pt x="3352673" y="14224"/>
                    <a:pt x="3352673" y="31623"/>
                  </a:cubicBezTo>
                  <a:cubicBezTo>
                    <a:pt x="3352673" y="49149"/>
                    <a:pt x="3338449" y="63246"/>
                    <a:pt x="3321050" y="63246"/>
                  </a:cubicBezTo>
                  <a:lnTo>
                    <a:pt x="31623" y="63246"/>
                  </a:lnTo>
                  <a:cubicBezTo>
                    <a:pt x="14224" y="63246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9BE1FF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876281" y="3179559"/>
            <a:ext cx="10058152" cy="3826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7194" lvl="1" indent="-203597" algn="l">
              <a:lnSpc>
                <a:spcPts val="3186"/>
              </a:lnSpc>
              <a:buFont typeface="Arial"/>
              <a:buChar char="•"/>
            </a:pP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Wokwi circuit of the lock</a:t>
            </a:r>
          </a:p>
          <a:p>
            <a:pPr marL="407194" lvl="1" indent="-203597" algn="l">
              <a:lnSpc>
                <a:spcPts val="3186"/>
              </a:lnSpc>
              <a:buFont typeface="Arial"/>
              <a:buChar char="•"/>
            </a:pP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Arduino MEGA 2560: controller</a:t>
            </a:r>
          </a:p>
          <a:p>
            <a:pPr marL="407194" lvl="1" indent="-203597" algn="l">
              <a:lnSpc>
                <a:spcPts val="3186"/>
              </a:lnSpc>
              <a:buFont typeface="Arial"/>
              <a:buChar char="•"/>
            </a:pP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16×2 + 20×4 I2C LCD: 0x27 / 0x26</a:t>
            </a:r>
          </a:p>
          <a:p>
            <a:pPr marL="407194" lvl="1" indent="-203597" algn="l">
              <a:lnSpc>
                <a:spcPts val="3186"/>
              </a:lnSpc>
              <a:buFont typeface="Arial"/>
              <a:buChar char="•"/>
            </a:pP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4×4 keypad: pins 9–2</a:t>
            </a:r>
          </a:p>
          <a:p>
            <a:pPr marL="407194" lvl="1" indent="-203597" algn="l">
              <a:lnSpc>
                <a:spcPts val="3186"/>
              </a:lnSpc>
              <a:buFont typeface="Arial"/>
              <a:buChar char="•"/>
            </a:pP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Servo: pin 10</a:t>
            </a:r>
          </a:p>
          <a:p>
            <a:pPr marL="407194" lvl="1" indent="-203597" algn="l">
              <a:lnSpc>
                <a:spcPts val="3186"/>
              </a:lnSpc>
              <a:buFont typeface="Arial"/>
              <a:buChar char="•"/>
            </a:pP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SD module: CS 53</a:t>
            </a:r>
          </a:p>
          <a:p>
            <a:pPr marL="407194" lvl="1" indent="-203597" algn="l">
              <a:lnSpc>
                <a:spcPts val="3186"/>
              </a:lnSpc>
              <a:buFont typeface="Arial"/>
              <a:buChar char="•"/>
            </a:pP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Buzzer, 2 LEDs: 11, 12, 24</a:t>
            </a:r>
          </a:p>
          <a:p>
            <a:pPr marL="407194" lvl="1" indent="-203597" algn="l">
              <a:lnSpc>
                <a:spcPts val="3186"/>
              </a:lnSpc>
              <a:buFont typeface="Arial"/>
              <a:buChar char="•"/>
            </a:pP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3 push buttons: 13, A0, 22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582114" y="0"/>
            <a:ext cx="6705429" cy="10287000"/>
            <a:chOff x="0" y="0"/>
            <a:chExt cx="8940571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940546" cy="13716000"/>
            </a:xfrm>
            <a:custGeom>
              <a:avLst/>
              <a:gdLst/>
              <a:ahLst/>
              <a:cxnLst/>
              <a:rect l="l" t="t" r="r" b="b"/>
              <a:pathLst>
                <a:path w="8940546" h="13716000">
                  <a:moveTo>
                    <a:pt x="0" y="0"/>
                  </a:moveTo>
                  <a:lnTo>
                    <a:pt x="8940546" y="0"/>
                  </a:lnTo>
                  <a:lnTo>
                    <a:pt x="894054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E1F4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1582114" y="0"/>
            <a:ext cx="6705429" cy="10287000"/>
            <a:chOff x="0" y="0"/>
            <a:chExt cx="8940571" cy="1371600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8940546" cy="13716000"/>
            </a:xfrm>
            <a:custGeom>
              <a:avLst/>
              <a:gdLst/>
              <a:ahLst/>
              <a:cxnLst/>
              <a:rect l="l" t="t" r="r" b="b"/>
              <a:pathLst>
                <a:path w="8940546" h="13716000">
                  <a:moveTo>
                    <a:pt x="0" y="0"/>
                  </a:moveTo>
                  <a:lnTo>
                    <a:pt x="8940546" y="0"/>
                  </a:lnTo>
                  <a:lnTo>
                    <a:pt x="894054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2" r="-7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285893" y="9687820"/>
            <a:ext cx="1186424" cy="283959"/>
            <a:chOff x="0" y="0"/>
            <a:chExt cx="1581899" cy="37861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81904" cy="378618"/>
            </a:xfrm>
            <a:custGeom>
              <a:avLst/>
              <a:gdLst/>
              <a:ahLst/>
              <a:cxnLst/>
              <a:rect l="l" t="t" r="r" b="b"/>
              <a:pathLst>
                <a:path w="1581904" h="378618">
                  <a:moveTo>
                    <a:pt x="0" y="0"/>
                  </a:moveTo>
                  <a:lnTo>
                    <a:pt x="1581904" y="0"/>
                  </a:lnTo>
                  <a:lnTo>
                    <a:pt x="1581904" y="378618"/>
                  </a:lnTo>
                  <a:lnTo>
                    <a:pt x="0" y="37861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31410" b="-31409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581899" cy="4262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30"/>
                </a:lnSpc>
              </a:pPr>
              <a:r>
                <a:rPr lang="en-US" sz="1575" spc="126">
                  <a:solidFill>
                    <a:srgbClr val="9D9D9D"/>
                  </a:solidFill>
                  <a:latin typeface="Arimo"/>
                  <a:ea typeface="Arimo"/>
                  <a:cs typeface="Arimo"/>
                  <a:sym typeface="Arimo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615315" y="9838487"/>
            <a:ext cx="1607763" cy="384048"/>
            <a:chOff x="0" y="0"/>
            <a:chExt cx="2143684" cy="512064"/>
          </a:xfrm>
        </p:grpSpPr>
        <p:sp>
          <p:nvSpPr>
            <p:cNvPr id="3" name="Freeform 3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143633" cy="512064"/>
            </a:xfrm>
            <a:custGeom>
              <a:avLst/>
              <a:gdLst/>
              <a:ahLst/>
              <a:cxnLst/>
              <a:rect l="l" t="t" r="r" b="b"/>
              <a:pathLst>
                <a:path w="2143633" h="512064">
                  <a:moveTo>
                    <a:pt x="0" y="0"/>
                  </a:moveTo>
                  <a:lnTo>
                    <a:pt x="2143633" y="0"/>
                  </a:lnTo>
                  <a:lnTo>
                    <a:pt x="2143633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838181" y="785432"/>
            <a:ext cx="12039295" cy="820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48"/>
              </a:lnSpc>
            </a:pPr>
            <a:r>
              <a:rPr lang="en-US" sz="6600" spc="-79">
                <a:solidFill>
                  <a:srgbClr val="ECECEC"/>
                </a:solidFill>
                <a:latin typeface="Exo 2"/>
                <a:ea typeface="Exo 2"/>
                <a:cs typeface="Exo 2"/>
                <a:sym typeface="Exo 2"/>
              </a:rPr>
              <a:t>Algorithm flow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38181" y="1908867"/>
            <a:ext cx="3009824" cy="47473"/>
            <a:chOff x="0" y="0"/>
            <a:chExt cx="4013098" cy="632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13073" cy="63246"/>
            </a:xfrm>
            <a:custGeom>
              <a:avLst/>
              <a:gdLst/>
              <a:ahLst/>
              <a:cxnLst/>
              <a:rect l="l" t="t" r="r" b="b"/>
              <a:pathLst>
                <a:path w="4013073" h="63246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3981450" y="0"/>
                  </a:lnTo>
                  <a:cubicBezTo>
                    <a:pt x="3998976" y="0"/>
                    <a:pt x="4013073" y="14224"/>
                    <a:pt x="4013073" y="31623"/>
                  </a:cubicBezTo>
                  <a:cubicBezTo>
                    <a:pt x="4013073" y="49149"/>
                    <a:pt x="3998849" y="63246"/>
                    <a:pt x="3981450" y="63246"/>
                  </a:cubicBezTo>
                  <a:lnTo>
                    <a:pt x="31623" y="63246"/>
                  </a:lnTo>
                  <a:cubicBezTo>
                    <a:pt x="14224" y="63246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9BE1FF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335996" y="2292248"/>
            <a:ext cx="11043666" cy="4762348"/>
            <a:chOff x="0" y="0"/>
            <a:chExt cx="14724888" cy="6349797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4724887" cy="6349746"/>
            </a:xfrm>
            <a:custGeom>
              <a:avLst/>
              <a:gdLst/>
              <a:ahLst/>
              <a:cxnLst/>
              <a:rect l="l" t="t" r="r" b="b"/>
              <a:pathLst>
                <a:path w="14724887" h="6349746">
                  <a:moveTo>
                    <a:pt x="0" y="0"/>
                  </a:moveTo>
                  <a:lnTo>
                    <a:pt x="14724887" y="0"/>
                  </a:lnTo>
                  <a:lnTo>
                    <a:pt x="14724887" y="6349746"/>
                  </a:lnTo>
                  <a:lnTo>
                    <a:pt x="0" y="6349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99" b="-99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2081898" y="2796883"/>
            <a:ext cx="6073178" cy="397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1"/>
              </a:lnSpc>
            </a:pPr>
            <a:r>
              <a:rPr lang="en-US" sz="2175" spc="-27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Read Credential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81898" y="3901249"/>
            <a:ext cx="6073178" cy="397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1"/>
              </a:lnSpc>
            </a:pPr>
            <a:r>
              <a:rPr lang="en-US" sz="2175" spc="-27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Hash &amp; Identify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81898" y="4994567"/>
            <a:ext cx="6073178" cy="397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1"/>
              </a:lnSpc>
            </a:pPr>
            <a:r>
              <a:rPr lang="en-US" sz="2175" spc="-27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AI Risk Score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81898" y="6087894"/>
            <a:ext cx="6073178" cy="397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1"/>
              </a:lnSpc>
            </a:pPr>
            <a:r>
              <a:rPr lang="en-US" sz="2175" spc="-27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Decision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8181" y="7273681"/>
            <a:ext cx="12039295" cy="1899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7194" lvl="1" indent="-203597" algn="l">
              <a:lnSpc>
                <a:spcPts val="3186"/>
              </a:lnSpc>
              <a:buFont typeface="Arial"/>
              <a:buChar char="•"/>
            </a:pPr>
            <a:r>
              <a:rPr lang="en-US" sz="2250" b="1">
                <a:solidFill>
                  <a:srgbClr val="D5D5D5"/>
                </a:solidFill>
                <a:latin typeface="Exo 2 Bold"/>
                <a:ea typeface="Exo 2 Bold"/>
                <a:cs typeface="Exo 2 Bold"/>
                <a:sym typeface="Exo 2 Bold"/>
              </a:rPr>
              <a:t>Duress:</a:t>
            </a: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 real PIN with last digit +1 opens the door and sends a silent alarm</a:t>
            </a:r>
          </a:p>
          <a:p>
            <a:pPr marL="407194" lvl="1" indent="-203597" algn="l">
              <a:lnSpc>
                <a:spcPts val="3186"/>
              </a:lnSpc>
              <a:buFont typeface="Arial"/>
              <a:buChar char="•"/>
            </a:pPr>
            <a:r>
              <a:rPr lang="en-US" sz="2250" b="1">
                <a:solidFill>
                  <a:srgbClr val="D5D5D5"/>
                </a:solidFill>
                <a:latin typeface="Exo 2 Bold"/>
                <a:ea typeface="Exo 2 Bold"/>
                <a:cs typeface="Exo 2 Bold"/>
                <a:sym typeface="Exo 2 Bold"/>
              </a:rPr>
              <a:t>Guest PIN:</a:t>
            </a: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 one use, expires in 5 minutes</a:t>
            </a:r>
          </a:p>
          <a:p>
            <a:pPr marL="407194" lvl="1" indent="-203597" algn="l">
              <a:lnSpc>
                <a:spcPts val="3186"/>
              </a:lnSpc>
              <a:buFont typeface="Arial"/>
              <a:buChar char="•"/>
            </a:pPr>
            <a:r>
              <a:rPr lang="en-US" sz="2250" b="1">
                <a:solidFill>
                  <a:srgbClr val="D5D5D5"/>
                </a:solidFill>
                <a:latin typeface="Exo 2 Bold"/>
                <a:ea typeface="Exo 2 Bold"/>
                <a:cs typeface="Exo 2 Bold"/>
                <a:sym typeface="Exo 2 Bold"/>
              </a:rPr>
              <a:t>Lockout:</a:t>
            </a: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 3 failures trigger siren, alert to all flats, and lockout 30 × 2^level s</a:t>
            </a:r>
          </a:p>
          <a:p>
            <a:pPr marL="407194" lvl="1" indent="-203597" algn="l">
              <a:lnSpc>
                <a:spcPts val="3186"/>
              </a:lnSpc>
              <a:buFont typeface="Arial"/>
              <a:buChar char="•"/>
            </a:pPr>
            <a:r>
              <a:rPr lang="en-US" sz="2250" b="1">
                <a:solidFill>
                  <a:srgbClr val="D5D5D5"/>
                </a:solidFill>
                <a:latin typeface="Exo 2 Bold"/>
                <a:ea typeface="Exo 2 Bold"/>
                <a:cs typeface="Exo 2 Bold"/>
                <a:sym typeface="Exo 2 Bold"/>
              </a:rPr>
              <a:t>Tamper input:</a:t>
            </a: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 door forced shut, alert, 30 s lockout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3410867" y="0"/>
            <a:ext cx="4876676" cy="10287000"/>
            <a:chOff x="0" y="0"/>
            <a:chExt cx="6502235" cy="13716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502273" cy="13716000"/>
            </a:xfrm>
            <a:custGeom>
              <a:avLst/>
              <a:gdLst/>
              <a:ahLst/>
              <a:cxnLst/>
              <a:rect l="l" t="t" r="r" b="b"/>
              <a:pathLst>
                <a:path w="6502273" h="13716000">
                  <a:moveTo>
                    <a:pt x="0" y="0"/>
                  </a:moveTo>
                  <a:lnTo>
                    <a:pt x="6502273" y="0"/>
                  </a:lnTo>
                  <a:lnTo>
                    <a:pt x="650227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E1F40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3410867" y="0"/>
            <a:ext cx="4876676" cy="10287000"/>
            <a:chOff x="0" y="0"/>
            <a:chExt cx="6502235" cy="13716000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6502273" cy="13716000"/>
            </a:xfrm>
            <a:custGeom>
              <a:avLst/>
              <a:gdLst/>
              <a:ahLst/>
              <a:cxnLst/>
              <a:rect l="l" t="t" r="r" b="b"/>
              <a:pathLst>
                <a:path w="6502273" h="13716000">
                  <a:moveTo>
                    <a:pt x="0" y="0"/>
                  </a:moveTo>
                  <a:lnTo>
                    <a:pt x="6502273" y="0"/>
                  </a:lnTo>
                  <a:lnTo>
                    <a:pt x="6502273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98" r="-98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285893" y="9687820"/>
            <a:ext cx="1186424" cy="283959"/>
            <a:chOff x="0" y="0"/>
            <a:chExt cx="1581899" cy="37861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81904" cy="378618"/>
            </a:xfrm>
            <a:custGeom>
              <a:avLst/>
              <a:gdLst/>
              <a:ahLst/>
              <a:cxnLst/>
              <a:rect l="l" t="t" r="r" b="b"/>
              <a:pathLst>
                <a:path w="1581904" h="378618">
                  <a:moveTo>
                    <a:pt x="0" y="0"/>
                  </a:moveTo>
                  <a:lnTo>
                    <a:pt x="1581904" y="0"/>
                  </a:lnTo>
                  <a:lnTo>
                    <a:pt x="1581904" y="378618"/>
                  </a:lnTo>
                  <a:lnTo>
                    <a:pt x="0" y="37861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31410" b="-31409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581899" cy="4262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30"/>
                </a:lnSpc>
              </a:pPr>
              <a:r>
                <a:rPr lang="en-US" sz="1575" spc="126">
                  <a:solidFill>
                    <a:srgbClr val="9D9D9D"/>
                  </a:solidFill>
                  <a:latin typeface="Arimo"/>
                  <a:ea typeface="Arimo"/>
                  <a:cs typeface="Arimo"/>
                  <a:sym typeface="Arimo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534190" cy="10287000"/>
            <a:chOff x="0" y="0"/>
            <a:chExt cx="11378921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378946" cy="13716000"/>
            </a:xfrm>
            <a:custGeom>
              <a:avLst/>
              <a:gdLst/>
              <a:ahLst/>
              <a:cxnLst/>
              <a:rect l="l" t="t" r="r" b="b"/>
              <a:pathLst>
                <a:path w="11378946" h="13716000">
                  <a:moveTo>
                    <a:pt x="0" y="0"/>
                  </a:moveTo>
                  <a:lnTo>
                    <a:pt x="11378946" y="0"/>
                  </a:lnTo>
                  <a:lnTo>
                    <a:pt x="1137894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E1F4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76281" y="899732"/>
            <a:ext cx="7010229" cy="820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48"/>
              </a:lnSpc>
            </a:pPr>
            <a:r>
              <a:rPr lang="en-US" sz="6600" spc="-79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AI risk engine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76281" y="2023167"/>
            <a:ext cx="1752552" cy="47473"/>
            <a:chOff x="0" y="0"/>
            <a:chExt cx="2336736" cy="632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36800" cy="63246"/>
            </a:xfrm>
            <a:custGeom>
              <a:avLst/>
              <a:gdLst/>
              <a:ahLst/>
              <a:cxnLst/>
              <a:rect l="l" t="t" r="r" b="b"/>
              <a:pathLst>
                <a:path w="2336800" h="63246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2305050" y="0"/>
                  </a:lnTo>
                  <a:cubicBezTo>
                    <a:pt x="2322576" y="0"/>
                    <a:pt x="2336800" y="14224"/>
                    <a:pt x="2336800" y="31623"/>
                  </a:cubicBezTo>
                  <a:cubicBezTo>
                    <a:pt x="2336800" y="49149"/>
                    <a:pt x="2322576" y="63246"/>
                    <a:pt x="2305177" y="63246"/>
                  </a:cubicBezTo>
                  <a:lnTo>
                    <a:pt x="31623" y="63246"/>
                  </a:lnTo>
                  <a:cubicBezTo>
                    <a:pt x="14224" y="63246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9BE1FF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876281" y="2358923"/>
            <a:ext cx="7010229" cy="3125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7194" lvl="1" indent="-203597" algn="l">
              <a:lnSpc>
                <a:spcPts val="3186"/>
              </a:lnSpc>
              <a:buFont typeface="Arial"/>
              <a:buChar char="•"/>
            </a:pP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Inputs: rhythm deviation, failed attempts / 3, tamper in last 60 s</a:t>
            </a:r>
          </a:p>
          <a:p>
            <a:pPr marL="407194" lvl="1" indent="-203597" algn="l">
              <a:lnSpc>
                <a:spcPts val="3186"/>
              </a:lnSpc>
              <a:buFont typeface="Arial"/>
              <a:buChar char="•"/>
            </a:pP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3–4–1 network, ReLU hidden layer, sigmoid output</a:t>
            </a:r>
          </a:p>
          <a:p>
            <a:pPr marL="407194" lvl="1" indent="-203597" algn="l">
              <a:lnSpc>
                <a:spcPts val="3186"/>
              </a:lnSpc>
              <a:buFont typeface="Arial"/>
              <a:buChar char="•"/>
            </a:pP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Rhythm learned per user at rate 0.2 and saved to PROFILES.TXT</a:t>
            </a:r>
          </a:p>
          <a:p>
            <a:pPr marL="407194" lvl="1" indent="-203597" algn="l">
              <a:lnSpc>
                <a:spcPts val="3186"/>
              </a:lnSpc>
              <a:buFont typeface="Arial"/>
              <a:buChar char="•"/>
            </a:pP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Active after 3 learned entries; reject at risk 0.70 or more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318041" y="647700"/>
            <a:ext cx="7918952" cy="6286348"/>
            <a:chOff x="0" y="0"/>
            <a:chExt cx="10558602" cy="8381797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0558653" cy="8381746"/>
            </a:xfrm>
            <a:custGeom>
              <a:avLst/>
              <a:gdLst/>
              <a:ahLst/>
              <a:cxnLst/>
              <a:rect l="l" t="t" r="r" b="b"/>
              <a:pathLst>
                <a:path w="10558653" h="8381746">
                  <a:moveTo>
                    <a:pt x="0" y="0"/>
                  </a:moveTo>
                  <a:lnTo>
                    <a:pt x="10558653" y="0"/>
                  </a:lnTo>
                  <a:lnTo>
                    <a:pt x="10558653" y="8381746"/>
                  </a:lnTo>
                  <a:lnTo>
                    <a:pt x="0" y="8381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5" r="-65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2553521" y="3347618"/>
            <a:ext cx="1424245" cy="813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75" spc="-19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Neural-network Risk Engine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55163" y="1144714"/>
            <a:ext cx="2121103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75" spc="-19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Rhythm deviation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955163" y="1515342"/>
            <a:ext cx="2121103" cy="629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6"/>
              </a:lnSpc>
            </a:pPr>
            <a:r>
              <a:rPr lang="en-US" sz="1650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Timing pattern variability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715373" y="3179912"/>
            <a:ext cx="2160699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75" spc="-19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Failed attempts / 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715373" y="3550549"/>
            <a:ext cx="2160699" cy="629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6"/>
              </a:lnSpc>
            </a:pPr>
            <a:r>
              <a:rPr lang="en-US" sz="1650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Normalized failure count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955163" y="5278469"/>
            <a:ext cx="2121103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75" spc="-19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Tamper in last 60 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955163" y="5649097"/>
            <a:ext cx="2121103" cy="629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6"/>
              </a:lnSpc>
            </a:pPr>
            <a:r>
              <a:rPr lang="en-US" sz="1650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Recent physical interference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23341" y="5278469"/>
            <a:ext cx="2121103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75" spc="-19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3–4–1 network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23341" y="5649097"/>
            <a:ext cx="2121103" cy="629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6"/>
              </a:lnSpc>
            </a:pPr>
            <a:r>
              <a:rPr lang="en-US" sz="1650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Three inputs, one hidden layer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55207" y="3343570"/>
            <a:ext cx="2160699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75" spc="-19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ReLU hidden layer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55207" y="3714207"/>
            <a:ext cx="2160699" cy="333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6"/>
              </a:lnSpc>
            </a:pPr>
            <a:r>
              <a:rPr lang="en-US" sz="1650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Nonlinear activation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423341" y="1144714"/>
            <a:ext cx="2121103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75" spc="-19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Sigmoid output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423341" y="1515342"/>
            <a:ext cx="2121103" cy="629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6"/>
              </a:lnSpc>
            </a:pPr>
            <a:r>
              <a:rPr lang="en-US" sz="1650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Produces risk score 0–1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7729454" y="9687820"/>
            <a:ext cx="558089" cy="283959"/>
            <a:chOff x="0" y="0"/>
            <a:chExt cx="744118" cy="37861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44122" cy="378618"/>
            </a:xfrm>
            <a:custGeom>
              <a:avLst/>
              <a:gdLst/>
              <a:ahLst/>
              <a:cxnLst/>
              <a:rect l="l" t="t" r="r" b="b"/>
              <a:pathLst>
                <a:path w="744122" h="378618">
                  <a:moveTo>
                    <a:pt x="0" y="0"/>
                  </a:moveTo>
                  <a:lnTo>
                    <a:pt x="744122" y="0"/>
                  </a:lnTo>
                  <a:lnTo>
                    <a:pt x="744122" y="378618"/>
                  </a:lnTo>
                  <a:lnTo>
                    <a:pt x="0" y="37861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281" r="-15281" b="1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744118" cy="4262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30"/>
                </a:lnSpc>
              </a:pPr>
              <a:r>
                <a:rPr lang="en-US" sz="1575" spc="126">
                  <a:solidFill>
                    <a:srgbClr val="9D9D9D"/>
                  </a:solidFill>
                  <a:latin typeface="Arimo"/>
                  <a:ea typeface="Arimo"/>
                  <a:cs typeface="Arimo"/>
                  <a:sym typeface="Arimo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8181" y="785432"/>
            <a:ext cx="16611181" cy="820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48"/>
              </a:lnSpc>
            </a:pPr>
            <a:r>
              <a:rPr lang="en-US" sz="6600" spc="-79">
                <a:solidFill>
                  <a:srgbClr val="ECECEC"/>
                </a:solidFill>
                <a:latin typeface="Exo 2"/>
                <a:ea typeface="Exo 2"/>
                <a:cs typeface="Exo 2"/>
                <a:sym typeface="Exo 2"/>
              </a:rPr>
              <a:t>Performance analysis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38181" y="1908867"/>
            <a:ext cx="4152795" cy="47473"/>
            <a:chOff x="0" y="0"/>
            <a:chExt cx="5537060" cy="632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536946" cy="63246"/>
            </a:xfrm>
            <a:custGeom>
              <a:avLst/>
              <a:gdLst/>
              <a:ahLst/>
              <a:cxnLst/>
              <a:rect l="l" t="t" r="r" b="b"/>
              <a:pathLst>
                <a:path w="5536946" h="63246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5505323" y="0"/>
                  </a:lnTo>
                  <a:cubicBezTo>
                    <a:pt x="5522849" y="0"/>
                    <a:pt x="5536946" y="14224"/>
                    <a:pt x="5536946" y="31623"/>
                  </a:cubicBezTo>
                  <a:cubicBezTo>
                    <a:pt x="5536946" y="49149"/>
                    <a:pt x="5522722" y="63246"/>
                    <a:pt x="5505323" y="63246"/>
                  </a:cubicBezTo>
                  <a:lnTo>
                    <a:pt x="31623" y="63246"/>
                  </a:lnTo>
                  <a:cubicBezTo>
                    <a:pt x="14224" y="63246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9BE1FF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838181" y="2507323"/>
            <a:ext cx="5232216" cy="51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4"/>
              </a:lnSpc>
            </a:pPr>
            <a:r>
              <a:rPr lang="en-US" sz="5400" b="1" spc="-216">
                <a:solidFill>
                  <a:srgbClr val="ECECEC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1 in 10,000: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8181" y="3184474"/>
            <a:ext cx="5232216" cy="453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chance of guessing a PIN per try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27587" y="2507323"/>
            <a:ext cx="5232216" cy="51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4"/>
              </a:lnSpc>
            </a:pPr>
            <a:r>
              <a:rPr lang="en-US" sz="5400" b="1" spc="-216">
                <a:solidFill>
                  <a:srgbClr val="ECECEC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~45/hour: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27587" y="3184474"/>
            <a:ext cx="5232216" cy="453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worst-case guesses after lockouts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216994" y="2507323"/>
            <a:ext cx="5232368" cy="51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4"/>
              </a:lnSpc>
            </a:pPr>
            <a:r>
              <a:rPr lang="en-US" sz="5400" b="1" spc="-216">
                <a:solidFill>
                  <a:srgbClr val="ECECEC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0.12 vs 0.97: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216994" y="3184474"/>
            <a:ext cx="5232368" cy="453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normal vs abnormal risk score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8181" y="3856882"/>
            <a:ext cx="5232216" cy="859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Non-blocking timers keep keypad and tamper input live during alerts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27587" y="3856882"/>
            <a:ext cx="5232216" cy="859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Hashed PINs: SD card theft does not reveal codes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216994" y="3856882"/>
            <a:ext cx="5232368" cy="1264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250" b="1">
                <a:solidFill>
                  <a:srgbClr val="D5D5D5"/>
                </a:solidFill>
                <a:latin typeface="Exo 2 Bold"/>
                <a:ea typeface="Exo 2 Bold"/>
                <a:cs typeface="Exo 2 Bold"/>
                <a:sym typeface="Exo 2 Bold"/>
              </a:rPr>
              <a:t>Limits:</a:t>
            </a: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 simulated SMS and fingerprint, hand-set NN weights, 32-bit hash, 8 residents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7729454" y="9687820"/>
            <a:ext cx="558089" cy="283959"/>
            <a:chOff x="0" y="0"/>
            <a:chExt cx="744118" cy="37861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44122" cy="378618"/>
            </a:xfrm>
            <a:custGeom>
              <a:avLst/>
              <a:gdLst/>
              <a:ahLst/>
              <a:cxnLst/>
              <a:rect l="l" t="t" r="r" b="b"/>
              <a:pathLst>
                <a:path w="744122" h="378618">
                  <a:moveTo>
                    <a:pt x="0" y="0"/>
                  </a:moveTo>
                  <a:lnTo>
                    <a:pt x="744122" y="0"/>
                  </a:lnTo>
                  <a:lnTo>
                    <a:pt x="744122" y="378618"/>
                  </a:lnTo>
                  <a:lnTo>
                    <a:pt x="0" y="3786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281" r="-15281" b="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744118" cy="4262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30"/>
                </a:lnSpc>
              </a:pPr>
              <a:r>
                <a:rPr lang="en-US" sz="1575" spc="126">
                  <a:solidFill>
                    <a:srgbClr val="9D9D9D"/>
                  </a:solidFill>
                  <a:latin typeface="Arimo"/>
                  <a:ea typeface="Arimo"/>
                  <a:cs typeface="Arimo"/>
                  <a:sym typeface="Arimo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924600" cy="10287000"/>
            <a:chOff x="0" y="0"/>
            <a:chExt cx="10566133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66146" cy="13716000"/>
            </a:xfrm>
            <a:custGeom>
              <a:avLst/>
              <a:gdLst/>
              <a:ahLst/>
              <a:cxnLst/>
              <a:rect l="l" t="t" r="r" b="b"/>
              <a:pathLst>
                <a:path w="10566146" h="13716000">
                  <a:moveTo>
                    <a:pt x="0" y="0"/>
                  </a:moveTo>
                  <a:lnTo>
                    <a:pt x="10566146" y="0"/>
                  </a:lnTo>
                  <a:lnTo>
                    <a:pt x="1056614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E1F4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76281" y="899732"/>
            <a:ext cx="6400638" cy="1717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48"/>
              </a:lnSpc>
            </a:pPr>
            <a:r>
              <a:rPr lang="en-US" sz="6600" spc="-79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Conclusion and future work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76281" y="2920013"/>
            <a:ext cx="1600162" cy="47473"/>
            <a:chOff x="0" y="0"/>
            <a:chExt cx="2133549" cy="632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3600" cy="63246"/>
            </a:xfrm>
            <a:custGeom>
              <a:avLst/>
              <a:gdLst/>
              <a:ahLst/>
              <a:cxnLst/>
              <a:rect l="l" t="t" r="r" b="b"/>
              <a:pathLst>
                <a:path w="2133600" h="63246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2101850" y="0"/>
                  </a:lnTo>
                  <a:cubicBezTo>
                    <a:pt x="2119376" y="0"/>
                    <a:pt x="2133600" y="14224"/>
                    <a:pt x="2133600" y="31623"/>
                  </a:cubicBezTo>
                  <a:cubicBezTo>
                    <a:pt x="2133600" y="49149"/>
                    <a:pt x="2119376" y="63246"/>
                    <a:pt x="2101977" y="63246"/>
                  </a:cubicBezTo>
                  <a:lnTo>
                    <a:pt x="31623" y="63246"/>
                  </a:lnTo>
                  <a:cubicBezTo>
                    <a:pt x="14224" y="63246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9BE1FF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876281" y="3255759"/>
            <a:ext cx="6400638" cy="2634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7194" lvl="1" indent="-203597" algn="l">
              <a:lnSpc>
                <a:spcPts val="3186"/>
              </a:lnSpc>
              <a:buFont typeface="Arial"/>
              <a:buChar char="•"/>
            </a:pP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Hashed PINs, duress code, guest PIN and building-wide alerts on a low-cost board</a:t>
            </a:r>
          </a:p>
          <a:p>
            <a:pPr marL="407194" lvl="1" indent="-203597" algn="l">
              <a:lnSpc>
                <a:spcPts val="3186"/>
              </a:lnSpc>
              <a:buFont typeface="Arial"/>
              <a:buChar char="•"/>
            </a:pP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AI risk check stops correct-but-suspicious entries</a:t>
            </a:r>
          </a:p>
          <a:p>
            <a:pPr marL="407194" lvl="1" indent="-203597" algn="l">
              <a:lnSpc>
                <a:spcPts val="3186"/>
              </a:lnSpc>
              <a:buFont typeface="Arial"/>
              <a:buChar char="•"/>
            </a:pPr>
            <a:r>
              <a:rPr lang="en-US" sz="2250" b="1">
                <a:solidFill>
                  <a:srgbClr val="D5D5D5"/>
                </a:solidFill>
                <a:latin typeface="Exo 2 Bold"/>
                <a:ea typeface="Exo 2 Bold"/>
                <a:cs typeface="Exo 2 Bold"/>
                <a:sym typeface="Exo 2 Bold"/>
              </a:rPr>
              <a:t>Next:</a:t>
            </a: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 real fingerprint module, GSM or Wi-Fi alerts, RTC, model trained on real typing data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6281" y="6109097"/>
            <a:ext cx="7048319" cy="453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sz="2250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Thank you | Questions?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496090" y="3018530"/>
            <a:ext cx="8915181" cy="42862"/>
            <a:chOff x="0" y="0"/>
            <a:chExt cx="11886908" cy="571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886946" cy="57150"/>
            </a:xfrm>
            <a:custGeom>
              <a:avLst/>
              <a:gdLst/>
              <a:ahLst/>
              <a:cxnLst/>
              <a:rect l="l" t="t" r="r" b="b"/>
              <a:pathLst>
                <a:path w="11886946" h="57150">
                  <a:moveTo>
                    <a:pt x="0" y="22860"/>
                  </a:moveTo>
                  <a:cubicBezTo>
                    <a:pt x="0" y="10287"/>
                    <a:pt x="10287" y="0"/>
                    <a:pt x="22860" y="0"/>
                  </a:cubicBezTo>
                  <a:lnTo>
                    <a:pt x="11864086" y="0"/>
                  </a:lnTo>
                  <a:cubicBezTo>
                    <a:pt x="11876659" y="0"/>
                    <a:pt x="11886946" y="10287"/>
                    <a:pt x="11886946" y="22860"/>
                  </a:cubicBezTo>
                  <a:lnTo>
                    <a:pt x="11886946" y="34290"/>
                  </a:lnTo>
                  <a:cubicBezTo>
                    <a:pt x="11886946" y="46863"/>
                    <a:pt x="11876659" y="57150"/>
                    <a:pt x="11864086" y="57150"/>
                  </a:cubicBezTo>
                  <a:lnTo>
                    <a:pt x="22860" y="57150"/>
                  </a:lnTo>
                  <a:cubicBezTo>
                    <a:pt x="10287" y="57150"/>
                    <a:pt x="0" y="46863"/>
                    <a:pt x="0" y="34290"/>
                  </a:cubicBezTo>
                  <a:close/>
                </a:path>
              </a:pathLst>
            </a:custGeom>
            <a:solidFill>
              <a:srgbClr val="3F3F3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150421" y="2447030"/>
            <a:ext cx="42862" cy="571500"/>
            <a:chOff x="0" y="0"/>
            <a:chExt cx="57150" cy="762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150" cy="762000"/>
            </a:xfrm>
            <a:custGeom>
              <a:avLst/>
              <a:gdLst/>
              <a:ahLst/>
              <a:cxnLst/>
              <a:rect l="l" t="t" r="r" b="b"/>
              <a:pathLst>
                <a:path w="57150" h="762000">
                  <a:moveTo>
                    <a:pt x="0" y="22860"/>
                  </a:moveTo>
                  <a:cubicBezTo>
                    <a:pt x="0" y="10287"/>
                    <a:pt x="10287" y="0"/>
                    <a:pt x="22860" y="0"/>
                  </a:cubicBezTo>
                  <a:lnTo>
                    <a:pt x="34290" y="0"/>
                  </a:lnTo>
                  <a:cubicBezTo>
                    <a:pt x="46863" y="0"/>
                    <a:pt x="57150" y="10287"/>
                    <a:pt x="57150" y="22860"/>
                  </a:cubicBezTo>
                  <a:lnTo>
                    <a:pt x="57150" y="739140"/>
                  </a:lnTo>
                  <a:cubicBezTo>
                    <a:pt x="57150" y="751713"/>
                    <a:pt x="46863" y="762000"/>
                    <a:pt x="34290" y="762000"/>
                  </a:cubicBezTo>
                  <a:lnTo>
                    <a:pt x="22860" y="762000"/>
                  </a:lnTo>
                  <a:cubicBezTo>
                    <a:pt x="10287" y="762000"/>
                    <a:pt x="0" y="751713"/>
                    <a:pt x="0" y="739140"/>
                  </a:cubicBezTo>
                  <a:close/>
                </a:path>
              </a:pathLst>
            </a:custGeom>
            <a:solidFill>
              <a:srgbClr val="306CE5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0064696" y="2911373"/>
            <a:ext cx="214303" cy="214312"/>
            <a:chOff x="0" y="0"/>
            <a:chExt cx="285737" cy="2857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142875"/>
                  </a:moveTo>
                  <a:cubicBezTo>
                    <a:pt x="0" y="64008"/>
                    <a:pt x="64008" y="0"/>
                    <a:pt x="142875" y="0"/>
                  </a:cubicBezTo>
                  <a:cubicBezTo>
                    <a:pt x="221742" y="0"/>
                    <a:pt x="285750" y="64008"/>
                    <a:pt x="285750" y="142875"/>
                  </a:cubicBezTo>
                  <a:cubicBezTo>
                    <a:pt x="285750" y="221742"/>
                    <a:pt x="221742" y="285750"/>
                    <a:pt x="142875" y="285750"/>
                  </a:cubicBezTo>
                  <a:cubicBezTo>
                    <a:pt x="64008" y="285750"/>
                    <a:pt x="0" y="221742"/>
                    <a:pt x="0" y="142875"/>
                  </a:cubicBezTo>
                  <a:close/>
                </a:path>
              </a:pathLst>
            </a:custGeom>
            <a:solidFill>
              <a:srgbClr val="4A86FF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8781831" y="723900"/>
            <a:ext cx="2780186" cy="310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8"/>
              </a:lnSpc>
            </a:pPr>
            <a:r>
              <a:rPr lang="en-US" sz="1650" spc="139">
                <a:solidFill>
                  <a:srgbClr val="B5B5B5"/>
                </a:solidFill>
                <a:latin typeface="Arimo"/>
                <a:ea typeface="Arimo"/>
                <a:cs typeface="Arimo"/>
                <a:sym typeface="Arimo"/>
              </a:rPr>
              <a:t>NEXT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781831" y="1167708"/>
            <a:ext cx="2780186" cy="993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2"/>
              </a:lnSpc>
            </a:pPr>
            <a:r>
              <a:rPr lang="en-US" sz="2850" spc="-34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real fingerprint module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004919" y="3018530"/>
            <a:ext cx="42862" cy="571500"/>
            <a:chOff x="0" y="0"/>
            <a:chExt cx="57150" cy="762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7150" cy="762000"/>
            </a:xfrm>
            <a:custGeom>
              <a:avLst/>
              <a:gdLst/>
              <a:ahLst/>
              <a:cxnLst/>
              <a:rect l="l" t="t" r="r" b="b"/>
              <a:pathLst>
                <a:path w="57150" h="762000">
                  <a:moveTo>
                    <a:pt x="0" y="22860"/>
                  </a:moveTo>
                  <a:cubicBezTo>
                    <a:pt x="0" y="10287"/>
                    <a:pt x="10287" y="0"/>
                    <a:pt x="22860" y="0"/>
                  </a:cubicBezTo>
                  <a:lnTo>
                    <a:pt x="34290" y="0"/>
                  </a:lnTo>
                  <a:cubicBezTo>
                    <a:pt x="46863" y="0"/>
                    <a:pt x="57150" y="10287"/>
                    <a:pt x="57150" y="22860"/>
                  </a:cubicBezTo>
                  <a:lnTo>
                    <a:pt x="57150" y="739140"/>
                  </a:lnTo>
                  <a:cubicBezTo>
                    <a:pt x="57150" y="751713"/>
                    <a:pt x="46863" y="762000"/>
                    <a:pt x="34290" y="762000"/>
                  </a:cubicBezTo>
                  <a:lnTo>
                    <a:pt x="22860" y="762000"/>
                  </a:lnTo>
                  <a:cubicBezTo>
                    <a:pt x="10287" y="762000"/>
                    <a:pt x="0" y="751713"/>
                    <a:pt x="0" y="739140"/>
                  </a:cubicBezTo>
                  <a:close/>
                </a:path>
              </a:pathLst>
            </a:custGeom>
            <a:solidFill>
              <a:srgbClr val="9A89E5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1919194" y="2911373"/>
            <a:ext cx="214303" cy="214312"/>
            <a:chOff x="0" y="0"/>
            <a:chExt cx="285737" cy="2857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142875"/>
                  </a:moveTo>
                  <a:cubicBezTo>
                    <a:pt x="0" y="64008"/>
                    <a:pt x="64008" y="0"/>
                    <a:pt x="142875" y="0"/>
                  </a:cubicBezTo>
                  <a:cubicBezTo>
                    <a:pt x="221742" y="0"/>
                    <a:pt x="285750" y="64008"/>
                    <a:pt x="285750" y="142875"/>
                  </a:cubicBezTo>
                  <a:cubicBezTo>
                    <a:pt x="285750" y="221742"/>
                    <a:pt x="221742" y="285750"/>
                    <a:pt x="142875" y="285750"/>
                  </a:cubicBezTo>
                  <a:cubicBezTo>
                    <a:pt x="64008" y="285750"/>
                    <a:pt x="0" y="221742"/>
                    <a:pt x="0" y="142875"/>
                  </a:cubicBezTo>
                  <a:close/>
                </a:path>
              </a:pathLst>
            </a:custGeom>
            <a:solidFill>
              <a:srgbClr val="B4A3FF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0636187" y="3837680"/>
            <a:ext cx="2780338" cy="310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8"/>
              </a:lnSpc>
            </a:pPr>
            <a:r>
              <a:rPr lang="en-US" sz="1650" spc="139">
                <a:solidFill>
                  <a:srgbClr val="B5B5B5"/>
                </a:solidFill>
                <a:latin typeface="Arimo"/>
                <a:ea typeface="Arimo"/>
                <a:cs typeface="Arimo"/>
                <a:sym typeface="Arimo"/>
              </a:rPr>
              <a:t>NEXT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636187" y="4281488"/>
            <a:ext cx="2780338" cy="993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2"/>
              </a:lnSpc>
            </a:pPr>
            <a:r>
              <a:rPr lang="en-US" sz="2850" spc="-34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GSM or Wi-Fi alerts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3859418" y="2447030"/>
            <a:ext cx="42862" cy="571500"/>
            <a:chOff x="0" y="0"/>
            <a:chExt cx="57150" cy="762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7150" cy="762000"/>
            </a:xfrm>
            <a:custGeom>
              <a:avLst/>
              <a:gdLst/>
              <a:ahLst/>
              <a:cxnLst/>
              <a:rect l="l" t="t" r="r" b="b"/>
              <a:pathLst>
                <a:path w="57150" h="762000">
                  <a:moveTo>
                    <a:pt x="0" y="22860"/>
                  </a:moveTo>
                  <a:cubicBezTo>
                    <a:pt x="0" y="10287"/>
                    <a:pt x="10287" y="0"/>
                    <a:pt x="22860" y="0"/>
                  </a:cubicBezTo>
                  <a:lnTo>
                    <a:pt x="34290" y="0"/>
                  </a:lnTo>
                  <a:cubicBezTo>
                    <a:pt x="46863" y="0"/>
                    <a:pt x="57150" y="10287"/>
                    <a:pt x="57150" y="22860"/>
                  </a:cubicBezTo>
                  <a:lnTo>
                    <a:pt x="57150" y="739140"/>
                  </a:lnTo>
                  <a:cubicBezTo>
                    <a:pt x="57150" y="751713"/>
                    <a:pt x="46863" y="762000"/>
                    <a:pt x="34290" y="762000"/>
                  </a:cubicBezTo>
                  <a:lnTo>
                    <a:pt x="22860" y="762000"/>
                  </a:lnTo>
                  <a:cubicBezTo>
                    <a:pt x="10287" y="762000"/>
                    <a:pt x="0" y="751713"/>
                    <a:pt x="0" y="739140"/>
                  </a:cubicBezTo>
                  <a:close/>
                </a:path>
              </a:pathLst>
            </a:custGeom>
            <a:solidFill>
              <a:srgbClr val="81C7E5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3773702" y="2911373"/>
            <a:ext cx="214303" cy="214312"/>
            <a:chOff x="0" y="0"/>
            <a:chExt cx="285737" cy="2857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142875"/>
                  </a:moveTo>
                  <a:cubicBezTo>
                    <a:pt x="0" y="64008"/>
                    <a:pt x="64008" y="0"/>
                    <a:pt x="142875" y="0"/>
                  </a:cubicBezTo>
                  <a:cubicBezTo>
                    <a:pt x="221742" y="0"/>
                    <a:pt x="285750" y="64008"/>
                    <a:pt x="285750" y="142875"/>
                  </a:cubicBezTo>
                  <a:cubicBezTo>
                    <a:pt x="285750" y="221742"/>
                    <a:pt x="221742" y="285750"/>
                    <a:pt x="142875" y="285750"/>
                  </a:cubicBezTo>
                  <a:cubicBezTo>
                    <a:pt x="64008" y="285750"/>
                    <a:pt x="0" y="221742"/>
                    <a:pt x="0" y="142875"/>
                  </a:cubicBezTo>
                  <a:close/>
                </a:path>
              </a:pathLst>
            </a:custGeom>
            <a:solidFill>
              <a:srgbClr val="9BE1FF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12490685" y="723900"/>
            <a:ext cx="2780338" cy="310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8"/>
              </a:lnSpc>
            </a:pPr>
            <a:r>
              <a:rPr lang="en-US" sz="1650" spc="139">
                <a:solidFill>
                  <a:srgbClr val="B5B5B5"/>
                </a:solidFill>
                <a:latin typeface="Arimo"/>
                <a:ea typeface="Arimo"/>
                <a:cs typeface="Arimo"/>
                <a:sym typeface="Arimo"/>
              </a:rPr>
              <a:t>NEXT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490685" y="1167708"/>
            <a:ext cx="2780338" cy="515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2"/>
              </a:lnSpc>
            </a:pPr>
            <a:r>
              <a:rPr lang="en-US" sz="2850" spc="-34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RTC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5713774" y="3018530"/>
            <a:ext cx="42862" cy="571500"/>
            <a:chOff x="0" y="0"/>
            <a:chExt cx="57150" cy="762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7150" cy="762000"/>
            </a:xfrm>
            <a:custGeom>
              <a:avLst/>
              <a:gdLst/>
              <a:ahLst/>
              <a:cxnLst/>
              <a:rect l="l" t="t" r="r" b="b"/>
              <a:pathLst>
                <a:path w="57150" h="762000">
                  <a:moveTo>
                    <a:pt x="0" y="22860"/>
                  </a:moveTo>
                  <a:cubicBezTo>
                    <a:pt x="0" y="10287"/>
                    <a:pt x="10287" y="0"/>
                    <a:pt x="22860" y="0"/>
                  </a:cubicBezTo>
                  <a:lnTo>
                    <a:pt x="34290" y="0"/>
                  </a:lnTo>
                  <a:cubicBezTo>
                    <a:pt x="46863" y="0"/>
                    <a:pt x="57150" y="10287"/>
                    <a:pt x="57150" y="22860"/>
                  </a:cubicBezTo>
                  <a:lnTo>
                    <a:pt x="57150" y="739140"/>
                  </a:lnTo>
                  <a:cubicBezTo>
                    <a:pt x="57150" y="751713"/>
                    <a:pt x="46863" y="762000"/>
                    <a:pt x="34290" y="762000"/>
                  </a:cubicBezTo>
                  <a:lnTo>
                    <a:pt x="22860" y="762000"/>
                  </a:lnTo>
                  <a:cubicBezTo>
                    <a:pt x="10287" y="762000"/>
                    <a:pt x="0" y="751713"/>
                    <a:pt x="0" y="739140"/>
                  </a:cubicBezTo>
                  <a:close/>
                </a:path>
              </a:pathLst>
            </a:custGeom>
            <a:solidFill>
              <a:srgbClr val="306CE5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5628048" y="2911373"/>
            <a:ext cx="214303" cy="214312"/>
            <a:chOff x="0" y="0"/>
            <a:chExt cx="285737" cy="28575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142875"/>
                  </a:moveTo>
                  <a:cubicBezTo>
                    <a:pt x="0" y="64008"/>
                    <a:pt x="64008" y="0"/>
                    <a:pt x="142875" y="0"/>
                  </a:cubicBezTo>
                  <a:cubicBezTo>
                    <a:pt x="221742" y="0"/>
                    <a:pt x="285750" y="64008"/>
                    <a:pt x="285750" y="142875"/>
                  </a:cubicBezTo>
                  <a:cubicBezTo>
                    <a:pt x="285750" y="221742"/>
                    <a:pt x="221742" y="285750"/>
                    <a:pt x="142875" y="285750"/>
                  </a:cubicBezTo>
                  <a:cubicBezTo>
                    <a:pt x="64008" y="285750"/>
                    <a:pt x="0" y="221742"/>
                    <a:pt x="0" y="142875"/>
                  </a:cubicBezTo>
                  <a:close/>
                </a:path>
              </a:pathLst>
            </a:custGeom>
            <a:solidFill>
              <a:srgbClr val="4A86FF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14345183" y="3837680"/>
            <a:ext cx="2780186" cy="310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8"/>
              </a:lnSpc>
            </a:pPr>
            <a:r>
              <a:rPr lang="en-US" sz="1650" spc="139">
                <a:solidFill>
                  <a:srgbClr val="B5B5B5"/>
                </a:solidFill>
                <a:latin typeface="Arimo"/>
                <a:ea typeface="Arimo"/>
                <a:cs typeface="Arimo"/>
                <a:sym typeface="Arimo"/>
              </a:rPr>
              <a:t>NEXT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345183" y="4281488"/>
            <a:ext cx="2780186" cy="147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2"/>
              </a:lnSpc>
            </a:pPr>
            <a:r>
              <a:rPr lang="en-US" sz="2850" spc="-34">
                <a:solidFill>
                  <a:srgbClr val="D5D5D5"/>
                </a:solidFill>
                <a:latin typeface="Exo 2"/>
                <a:ea typeface="Exo 2"/>
                <a:cs typeface="Exo 2"/>
                <a:sym typeface="Exo 2"/>
              </a:rPr>
              <a:t>model trained on real typing data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7729454" y="9687820"/>
            <a:ext cx="558089" cy="283959"/>
            <a:chOff x="0" y="0"/>
            <a:chExt cx="744118" cy="37861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44122" cy="378618"/>
            </a:xfrm>
            <a:custGeom>
              <a:avLst/>
              <a:gdLst/>
              <a:ahLst/>
              <a:cxnLst/>
              <a:rect l="l" t="t" r="r" b="b"/>
              <a:pathLst>
                <a:path w="744122" h="378618">
                  <a:moveTo>
                    <a:pt x="0" y="0"/>
                  </a:moveTo>
                  <a:lnTo>
                    <a:pt x="744122" y="0"/>
                  </a:lnTo>
                  <a:lnTo>
                    <a:pt x="744122" y="378618"/>
                  </a:lnTo>
                  <a:lnTo>
                    <a:pt x="0" y="3786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281" r="-15281" b="1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744118" cy="4262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30"/>
                </a:lnSpc>
              </a:pPr>
              <a:r>
                <a:rPr lang="en-US" sz="1575" spc="126">
                  <a:solidFill>
                    <a:srgbClr val="9D9D9D"/>
                  </a:solidFill>
                  <a:latin typeface="Arimo"/>
                  <a:ea typeface="Arimo"/>
                  <a:cs typeface="Arimo"/>
                  <a:sym typeface="Arimo"/>
                </a:rPr>
                <a:t>10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627</Words>
  <Application>Microsoft Office PowerPoint</Application>
  <PresentationFormat>Custom</PresentationFormat>
  <Paragraphs>140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Arimo</vt:lpstr>
      <vt:lpstr>Arial</vt:lpstr>
      <vt:lpstr>Museo Moderno Bold</vt:lpstr>
      <vt:lpstr>Calibri</vt:lpstr>
      <vt:lpstr>Exo 2</vt:lpstr>
      <vt:lpstr>Arimo Bold</vt:lpstr>
      <vt:lpstr>Exo 2 Bold</vt:lpstr>
      <vt:lpstr>Michroma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NEEDTOUPDATE.pptx</dc:title>
  <dc:creator>Dharshini Sivakumar</dc:creator>
  <cp:lastModifiedBy>HP</cp:lastModifiedBy>
  <cp:revision>2</cp:revision>
  <dcterms:created xsi:type="dcterms:W3CDTF">2006-08-16T00:00:00Z</dcterms:created>
  <dcterms:modified xsi:type="dcterms:W3CDTF">2026-10-15T16:03:28Z</dcterms:modified>
  <dc:identifier>DAHYF-NAMtw</dc:identifier>
</cp:coreProperties>
</file>